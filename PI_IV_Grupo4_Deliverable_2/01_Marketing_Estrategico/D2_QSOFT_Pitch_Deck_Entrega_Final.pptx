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QSOFT IA Governada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elaboração do grupo a partir do Relatório da Sprint 1, resumo executivo e prioridades estratégicas.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Problema e oportunidade a validar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Relatório da Sprint 1, relatos sobre uso de IA, retorno e capacidade; Diagnóstico de Competitividade, p. 7–8.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Segmentação e seleção de contas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Relatório da Sprint 1, seção 2.1; Diagnóstico de Competitividade, p. 3 e 6–7; aula Aplicações estratégicas — portfólio, p. 3 e 7.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Solução e proposta de valor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elaboração do grupo com base no Relatório da Sprint 1, seções 4 e 10; aula Aplicações estratégicas — portfólio, p. 12–14.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Posicionamento e evidências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QSOFT. Case Unimed. https://www.qsoft.com.br/case-unimed/. Consulta registrada em 22/10/2026. Seções Desafio, Transformação e Resultados; declaração institucional, sem auditoria independente e sem prova da proposta IA Governada.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Relatório da Sprint 1, seções 2.2 e 9; case Unimed, publicado pela QSOFT, consulta registrada em 22/10/2026; aula de portfólio, p. 15–17.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Piloto com escopo e verificação definidos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elaboração do grupo a partir das prioridades do Relatório da Sprint 1, seção 10. O exemplo não descreve implantação ou resultado da QSOFT.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Model Canvas proposto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elaboração do grupo a partir do Relatório da Sprint 1, seções 2.1, 4, 5 e 10, e do Diagnóstico de Competitividade, p. 3 e 6–8.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Processos como P principal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elaboração do grupo conforme aula Aplicações estratégicas — portfólio, p. 23–28, e capacidades descritas no Relatório da Sprint 1, seções 5–6.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Decisões de portfólio condicionadas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recomendações do grupo a partir do Relatório da Sprint 1, seções 2.1 e 9–11, e do Diagnóstico de Competitividade, p. 3 e 6–8.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Pedido e condições para avançar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elaboração do grupo a partir do Relatório da Sprint 1, seção 10. Funções a designar; datas, horas e orçamento ainda não aprovados.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 de trabalho e decisão B2B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QSOFT. Case Unimed. https://www.qsoft.com.br/case-unimed/. Consulta registrada em 22/10/2026. Seções Desafio, Transformação e Resultados; declaração institucional, sem auditoria independente e sem prova da proposta IA Governada.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Silvana Scheffel Gomes. Ecossistema Fornecedores Canais Cliente, aula de 08/09/2026, p. 28–37: papéis de compra B2B e validação.</a:t>
            </a:r>
          </a:p>
          <a:p>
            <a:endParaRPr/>
          </a:p>
          <a:p>
            <a:r>
              <a:t>Diagnóstico de Competitividade, p. 6–7; case Unimed, Desafio e Transformação; aulas de portfólio, p. 8–10, e Ecossistema, p. 28–37.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Canvas da Proposta de Valor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elaboração do grupo com base no Relatório da Sprint 1, seções 4 e 10, e no Diagnóstico de Competitividade, p. 6–7. Estrutura: aula de portfólio, p. 12–14.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Cinco palavras e expressão da proposta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formulação do grupo conforme aula Aplicações estratégicas — portfólio, p. 18–21. Diferença pretendida, sem exclusividade comprovada.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7Ps da proposta de serviço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elaboração do grupo a partir do Relatório da Sprint 1, seções 5–6 e 10. Modelo: aula Aplicações estratégicas — portfólio, p. 24–28.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Portfólio com análises ainda incompletas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aula Aplicações estratégicas — portfólio, p. 33–51 e 56; Diagnóstico de Competitividade, p. 3, 5 e 8. Quatro modalidades existentes sem dados suficientes.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Ansoff e direção do crescimento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elaboração do grupo a partir do Relatório da Sprint 1, seções 9–11, e do Diagnóstico de Competitividade, p. 3 e 6–7. Modelo: aula de portfólio, p. 52–56.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Pendências de análise e execução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lacunas do Relatório da Sprint 1, seções 2.1, 4, 6 e 10, e do Diagnóstico de Competitividade, p. 5–8. Requisito de portfólio: aula, p. 56.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 documentais</a:t>
            </a:r>
          </a:p>
          <a:p>
            <a:endParaRPr/>
          </a:p>
          <a:p>
            <a:r>
              <a:t>Relatório da Sprint 1 (DOCX): Relatório Diagnóstico Estratégico QSOFT Corrigido, coleta externa declarada em 30/09/2026; seções 2.1, 2.2, 4–6 e 9–11.</a:t>
            </a:r>
          </a:p>
          <a:p>
            <a:endParaRPr/>
          </a:p>
          <a:p>
            <a:r>
              <a:t>Diagnóstico de Competitividade (PDF): Diagnóstico Estratégico de Competitividade da QSOFT, setembro de 2026, 13 páginas; arquivo Diagnostico_Estrategico_QSOFT_Corrigido.pdf. Localizadores usam ordem física do PDF.</a:t>
            </a:r>
          </a:p>
          <a:p>
            <a:endParaRPr/>
          </a:p>
          <a:p>
            <a:r>
              <a:t>Silvana Scheffel Gomes. Aplicações estratégicas — portfólio, aula de 13/10/2026, 57 páginas. STP, persona, proposta de valor, posicionamento, mix e portfólio; atividade na p. 56 do PDF.</a:t>
            </a:r>
          </a:p>
          <a:p>
            <a:endParaRPr/>
          </a:p>
          <a:p>
            <a:r>
              <a:t>Silvana Scheffel Gomes. Ecossistema Fornecedores Canais Cliente, aula de 08/09/2026, p. 28–37: papéis de compra B2B e validação.</a:t>
            </a:r>
          </a:p>
          <a:p>
            <a:endParaRPr/>
          </a:p>
          <a:p>
            <a:r>
              <a:t>QSOFT. Case Unimed. https://www.qsoft.com.br/case-unimed/. Consulta registrada em 22/10/2026. Seções Desafio, Transformação e Resultados; declaração institucional, sem auditoria independente e sem prova da proposta IA Governada.</a:t>
            </a:r>
          </a:p>
          <a:p>
            <a:endParaRPr/>
          </a:p>
          <a:p>
            <a:r>
              <a:t>fontes identificadas nos rodapés e detalhadas nas notas do apresentador e nas referências finais do plano.</a:t>
            </a:r>
          </a:p>
          <a:p>
            <a:endParaRPr/>
          </a:p>
          <a:p>
            <a:r>
              <a:t>Público-alvo proposto: organizações de saúde médias e grandes com operações de dados complexas, priorizando as contas atuais da QSOFT. Critérios de porte e elegibilidade a validar. QSOFT IA Governada é uma proposta do grupo; os materiais não comprovam lançamento, contratação ou resultados. Escolhas e etapas de execução são recomendações. A persona e as classificações quantitativas do portfólio ainda exigem evidências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A4B8-D6A5-44D8-94E9-9C84153B9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954D4-95F2-4609-B93F-C69158972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A952A-2521-4A46-858E-BC9CEC5B99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EBEF3-DD98-4BE0-856B-0A96918012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73680-FBF0-460B-A47D-E2986244E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8485-54E8-4D60-85F7-8F436F25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61C7-975A-4409-BAA4-D59EF83A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67540-233D-4957-B7B7-BF0D6C732D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A865-7448-49A0-8EDF-890FC8876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740EA-34F8-4DBF-A22B-C33A61FEA1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024F-F023-4289-8B89-0CBB8BD5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76C9A-C88E-4A00-B80D-C46B2D671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4BF86-0BCC-4860-8076-53228F0C29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28D71-BC04-4133-B748-FA9AC709CD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1667A-6FC7-4066-81CA-D1D281B871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923-6AA6-4F88-856C-6607FAAC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2BB7-D6DD-4AB8-A2E2-069BF9785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67C3C-E482-4000-9974-647CE1BCE36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FAE4E-4EC2-4CAD-B105-83543CD316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8119C-F988-4E9F-ADD6-46FEB99D29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42199-45D8-4FB0-83F6-14E8BAA0B3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1D60-0E88-4944-8843-88798C74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4B117-1FC4-49E6-9EC8-10CA1981A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0627F-CF61-43B8-BAFE-088EC544A4D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524E0-5777-40EE-8DD6-1783D732236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7437B8-5E2D-4102-8C4A-0F0C7CDE1D8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D48A5-3634-4E4E-AA40-E74FD7F99F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2E964-C961-434E-BBB4-1FE63FCFEA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C06C3-9B9D-4BCC-9543-D80A3487AF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EF92-F925-4F7E-8404-24E5A091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F0520-5B05-46DB-8ABA-297E4CB564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BFFB0-6C3B-4068-B23C-D51B39AE73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E8534-4A1E-4871-9283-57A9DBA2A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93B69-E52C-413E-B267-996C13A4E8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61CBF-4123-4D59-B64A-4B9AF1BF90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FA51D-99D9-4B4E-AC3F-2E30912336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767C-D131-4AE5-AC0B-7F69867E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C4E3-4215-486D-9D7B-8DD7C132A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24AF6-98BD-4A89-88A8-80425B83B0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F6983-0625-4A75-8F72-0476B20AC8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7DB71-897A-4DE4-9201-ECAED070DE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E7ECB-9C15-4220-A0A6-367828910F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58B8-4EB1-4DDC-A388-53AB8088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66291-E868-46AD-8013-F885A0BB8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5B2B0-18C6-4724-AA6F-440BCDCF7C5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ECC0B-1C54-4761-A56F-689A7815AD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8C09C-2CE8-4C5A-A719-09481E8F5C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811F2-4084-4ABC-9927-A3F709ACF2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65FB-1EC3-4F06-97ED-2EDBA2AC6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E807C-2C2D-49B6-AD52-8EF37C437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D7790-9DF9-415A-873D-1A16D14DF8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0E8B-2AB1-41FE-9FAC-9203758E66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9E937-18C8-4B9B-B004-E819CE4C6A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27573-3011-4116-9C07-0ED471BE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632EC-3941-428A-A6AB-0253EDCA5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301A0-2477-4FC4-823C-46B3E4B80A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6BB8-B15E-419A-85E7-8328BD16E8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A42F-CA91-4288-AE6A-9330116F9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10508-5544-48FF-8D40-20129E4A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27C54-B363-4A58-9991-92E67556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7CC4E-AC21-4C96-ADC7-42973652363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23/10/2026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3EFA9-C389-4BCA-A236-7DF6485BA84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7A218-E4BA-41CE-882C-6CBF0FAC922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841248"/>
            <a:ext cx="10820400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QSOFT IA </a:t>
            </a:r>
            <a:r>
              <a:rPr sz="6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Governada</a:t>
            </a:r>
            <a:endParaRPr sz="60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01/18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AF4D96F5-3516-4388-B321-61A12BFB8771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a partir do Relatório da Sprint 1, resumo executivo e prioridades estratégicas.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B7D8A8FA-097B-4162-BF2E-FDCD49E8349A}"/>
              </a:ext>
            </a:extLst>
          </p:cNvPr>
          <p:cNvSpPr>
            <a:spLocks noGrp="1"/>
          </p:cNvSpPr>
          <p:nvPr/>
        </p:nvSpPr>
        <p:spPr>
          <a:xfrm>
            <a:off x="731520" y="1666875"/>
            <a:ext cx="10515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1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Proposta do grupo para governança do uso corporativo de IA</a:t>
            </a:r>
          </a:p>
        </p:txBody>
      </p:sp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7181C022-4408-431B-8102-2B8E47815E1B}"/>
              </a:ext>
            </a:extLst>
          </p:cNvPr>
          <p:cNvSpPr>
            <a:spLocks noGrp="1"/>
          </p:cNvSpPr>
          <p:nvPr/>
        </p:nvSpPr>
        <p:spPr>
          <a:xfrm>
            <a:off x="731520" y="3190875"/>
            <a:ext cx="105156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Foco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em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organizações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saúde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médias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e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grandes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com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operações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de dados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complexas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priorizando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as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contas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atuais</a:t>
            </a:r>
            <a:r>
              <a:rPr sz="2325" b="0" dirty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 da QSOFT.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FBB1E3B0-AF97-46F4-A5B1-054815802810}"/>
              </a:ext>
            </a:extLst>
          </p:cNvPr>
          <p:cNvSpPr>
            <a:spLocks noGrp="1"/>
          </p:cNvSpPr>
          <p:nvPr/>
        </p:nvSpPr>
        <p:spPr>
          <a:xfrm>
            <a:off x="731520" y="5286375"/>
            <a:ext cx="10515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Gustavo Carvalho · Julia Egute · Pablo Perez · Pedro Perroni</a:t>
            </a:r>
          </a:p>
          <a:p>
            <a:pPr>
              <a:defRPr sz="157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Marketing Estratégico · Sprint 2 ·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339C-44C1-4187-884D-6E0E4D54E242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Problema e oportunidade a validar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48470-2C55-4158-94DD-C017AAE6213F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02/18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85E18B83-2AEE-4926-9BA0-53B3D5669F18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Relatório da Sprint 1, relatos sobre uso de IA, retorno e capacidade; Diagnóstico de Competitividade, p. 7–8.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97C5F88F-C9FF-48DB-82E0-062FC60DE54E}"/>
              </a:ext>
            </a:extLst>
          </p:cNvPr>
          <p:cNvSpPr>
            <a:spLocks noGrp="1"/>
          </p:cNvSpPr>
          <p:nvPr/>
        </p:nvSpPr>
        <p:spPr>
          <a:xfrm>
            <a:off x="731520" y="16668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Sinais documentados</a:t>
            </a:r>
          </a:p>
        </p:txBody>
      </p:sp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989EAFB5-6CF6-4B74-8660-E6557380DA92}"/>
              </a:ext>
            </a:extLst>
          </p:cNvPr>
          <p:cNvSpPr>
            <a:spLocks noGrp="1"/>
          </p:cNvSpPr>
          <p:nvPr/>
        </p:nvSpPr>
        <p:spPr>
          <a:xfrm>
            <a:off x="731520" y="2305050"/>
            <a:ext cx="4857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Uso não autorizado de IA e dificuldade de demonstrar retorno aparecem nos relatos da empresa.</a:t>
            </a:r>
          </a:p>
          <a:p>
            <a:endParaRPr sz="217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 agenda de especialistas limita a capacidade de entrega.</a:t>
            </a:r>
          </a:p>
        </p:txBody>
      </p:sp>
      <p:sp>
        <p:nvSpPr>
          <p:cNvPr id="8" name="Conteúdo editável">
            <a:extLst>
              <a:ext uri="{FF2B5EF4-FFF2-40B4-BE49-F238E27FC236}">
                <a16:creationId xmlns:a16="http://schemas.microsoft.com/office/drawing/2014/main" id="{B3D8CABD-CA90-42D1-9C60-6303FE08DE84}"/>
              </a:ext>
            </a:extLst>
          </p:cNvPr>
          <p:cNvSpPr>
            <a:spLocks noGrp="1"/>
          </p:cNvSpPr>
          <p:nvPr/>
        </p:nvSpPr>
        <p:spPr>
          <a:xfrm>
            <a:off x="6334125" y="16668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Resposta proposta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C8C71A5E-7E48-4DBF-9328-C90A9582D08E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4857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Organizar usos e responsabilidades, integrar controles e medir benefícios.</a:t>
            </a:r>
          </a:p>
          <a:p>
            <a:endParaRPr sz="217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Confirmar dor, orçamento e disposição de pagar em cada conta.</a:t>
            </a:r>
          </a:p>
        </p:txBody>
      </p:sp>
    </p:spTree>
    <p:extLst>
      <p:ext uri="{BB962C8B-B14F-4D97-AF65-F5344CB8AC3E}">
        <p14:creationId xmlns:p14="http://schemas.microsoft.com/office/powerpoint/2010/main" val="921579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A7E91B-098D-4427-A6B2-BC164C9A393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Segmentação e seleção de contas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17130-DFAD-4834-AF07-6243EB75BC4A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03/18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F2A0473B-86D8-4C9A-BC2B-53CAF0CDA8E8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Relatório da Sprint 1, seção 2.1; Diagnóstico de Competitividade, p. 3 e 6–7; aula Aplicações estratégicas — portfólio, p. 3 e 7.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4BCE89D-A71A-4131-BB74-87291AAFAE81}"/>
              </a:ext>
            </a:extLst>
          </p:cNvPr>
          <p:cNvGraphicFramePr/>
          <p:nvPr/>
        </p:nvGraphicFramePr>
        <p:xfrm>
          <a:off x="731520" y="1619250"/>
          <a:ext cx="10515600" cy="3286124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Segmento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Prioridade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Critério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Saúde na base atual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Principal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Médio/grande porte proposto; operações de dados complexas. Confirmar critérios e elegibilidade.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Outros setores da base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Secundária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Necessidade comprovada, aderência e capacidade disponível.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Seguros e financeiro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Exploração futura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Validar demanda, requisitos e referências antes de priorizar.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6C443C72-54E2-4A17-99B6-79B304C7CC26}"/>
              </a:ext>
            </a:extLst>
          </p:cNvPr>
          <p:cNvSpPr>
            <a:spLocks noGrp="1"/>
          </p:cNvSpPr>
          <p:nvPr/>
        </p:nvSpPr>
        <p:spPr>
          <a:xfrm>
            <a:off x="731520" y="5238750"/>
            <a:ext cx="10515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Qualificar dor, responsável pelo processo, patrocinador e caminho de compra. Tamanho do nicho ainda não apurado.</a:t>
            </a:r>
          </a:p>
        </p:txBody>
      </p:sp>
    </p:spTree>
    <p:extLst>
      <p:ext uri="{BB962C8B-B14F-4D97-AF65-F5344CB8AC3E}">
        <p14:creationId xmlns:p14="http://schemas.microsoft.com/office/powerpoint/2010/main" val="194339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33CD5F-69B4-42D1-BC33-777A14DC128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Solução e proposta de valor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9DCD1-B39F-4669-B4FE-F0EF91B57A4C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04/18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B4207AFC-7589-42B2-B298-FAB263E86A4B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com base no Relatório da Sprint 1, seções 4 e 10; aula Aplicações estratégicas — portfólio, p. 12–14.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DD73B188-6D9B-48CA-B9E0-1C42E39357EC}"/>
              </a:ext>
            </a:extLst>
          </p:cNvPr>
          <p:cNvSpPr>
            <a:spLocks noGrp="1"/>
          </p:cNvSpPr>
          <p:nvPr/>
        </p:nvSpPr>
        <p:spPr>
          <a:xfrm>
            <a:off x="731520" y="16668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Escopo proposto</a:t>
            </a:r>
          </a:p>
        </p:txBody>
      </p:sp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E9644A92-A887-4902-B7D1-F61AB50CF6AE}"/>
              </a:ext>
            </a:extLst>
          </p:cNvPr>
          <p:cNvSpPr>
            <a:spLocks noGrp="1"/>
          </p:cNvSpPr>
          <p:nvPr/>
        </p:nvSpPr>
        <p:spPr>
          <a:xfrm>
            <a:off x="731520" y="2305050"/>
            <a:ext cx="4857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Diagnóstico e linha de base.</a:t>
            </a:r>
          </a:p>
          <a:p>
            <a:endParaRPr sz="217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Controles e integração em piloto.</a:t>
            </a:r>
          </a:p>
          <a:p>
            <a:endParaRPr sz="217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Capacitação, documentação e acompanhamento.</a:t>
            </a:r>
          </a:p>
        </p:txBody>
      </p:sp>
      <p:sp>
        <p:nvSpPr>
          <p:cNvPr id="8" name="Conteúdo editável">
            <a:extLst>
              <a:ext uri="{FF2B5EF4-FFF2-40B4-BE49-F238E27FC236}">
                <a16:creationId xmlns:a16="http://schemas.microsoft.com/office/drawing/2014/main" id="{65AC56A4-6782-4288-A3A6-48552C752AE0}"/>
              </a:ext>
            </a:extLst>
          </p:cNvPr>
          <p:cNvSpPr>
            <a:spLocks noGrp="1"/>
          </p:cNvSpPr>
          <p:nvPr/>
        </p:nvSpPr>
        <p:spPr>
          <a:xfrm>
            <a:off x="6334125" y="16668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Valor para a conta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00A2B1A6-70A0-466B-8F4F-0DD8052F9C4D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4857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Organizar o uso de IA com controle e rastreabilidade, conectando governança ao processo e acompanhando benefícios.</a:t>
            </a:r>
          </a:p>
          <a:p>
            <a:endParaRPr sz="2100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Alternativa a controles dispersos, com encaixe a validar.</a:t>
            </a:r>
          </a:p>
        </p:txBody>
      </p:sp>
    </p:spTree>
    <p:extLst>
      <p:ext uri="{BB962C8B-B14F-4D97-AF65-F5344CB8AC3E}">
        <p14:creationId xmlns:p14="http://schemas.microsoft.com/office/powerpoint/2010/main" val="68295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BDD29-F466-46C4-AB52-BF7689C199D8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Posicionamento e evidências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D1D4F-87D6-4281-A4EC-EBEC6184F07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05/18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8A73F300-246E-4163-8D85-BAD57FBDF28D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Relatório da Sprint 1, seções 2.2 e 9; case Unimed, publicado pela QSOFT, consulta registrada em 22/10/2026; aula de portfólio, p. 15–17.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F03F0EC3-F9F2-44CB-B612-9C1242B2CCAF}"/>
              </a:ext>
            </a:extLst>
          </p:cNvPr>
          <p:cNvSpPr>
            <a:spLocks noGrp="1"/>
          </p:cNvSpPr>
          <p:nvPr/>
        </p:nvSpPr>
        <p:spPr>
          <a:xfrm>
            <a:off x="731520" y="1571625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Consultoria de governança de IA aplicada ao contexto operacional das contas de saúde.</a:t>
            </a:r>
          </a:p>
        </p:txBody>
      </p:sp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F60F9225-3E77-4665-9909-A4DE04D3802F}"/>
              </a:ext>
            </a:extLst>
          </p:cNvPr>
          <p:cNvSpPr>
            <a:spLocks noGrp="1"/>
          </p:cNvSpPr>
          <p:nvPr/>
        </p:nvSpPr>
        <p:spPr>
          <a:xfrm>
            <a:off x="731520" y="276225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Razões para acreditar</a:t>
            </a:r>
          </a:p>
        </p:txBody>
      </p:sp>
      <p:sp>
        <p:nvSpPr>
          <p:cNvPr id="8" name="Conteúdo editável">
            <a:extLst>
              <a:ext uri="{FF2B5EF4-FFF2-40B4-BE49-F238E27FC236}">
                <a16:creationId xmlns:a16="http://schemas.microsoft.com/office/drawing/2014/main" id="{E8DFCEAA-E822-48AF-A34D-B2429539B1BC}"/>
              </a:ext>
            </a:extLst>
          </p:cNvPr>
          <p:cNvSpPr>
            <a:spLocks noGrp="1"/>
          </p:cNvSpPr>
          <p:nvPr/>
        </p:nvSpPr>
        <p:spPr>
          <a:xfrm>
            <a:off x="731520" y="3400425"/>
            <a:ext cx="4857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Referências em saúde e vínculo plurianual.</a:t>
            </a:r>
          </a:p>
          <a:p>
            <a:endParaRPr sz="202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Case Unimed: fechamento de dados de 25 para 5 dias, conforme declaração institucional.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7EB89210-B9E7-4777-BEA9-6D01DA11C0A9}"/>
              </a:ext>
            </a:extLst>
          </p:cNvPr>
          <p:cNvSpPr>
            <a:spLocks noGrp="1"/>
          </p:cNvSpPr>
          <p:nvPr/>
        </p:nvSpPr>
        <p:spPr>
          <a:xfrm>
            <a:off x="6334125" y="276225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Diferença pretendida</a:t>
            </a:r>
          </a:p>
        </p:txBody>
      </p:sp>
      <p:sp>
        <p:nvSpPr>
          <p:cNvPr id="10" name="Conteúdo editável">
            <a:extLst>
              <a:ext uri="{FF2B5EF4-FFF2-40B4-BE49-F238E27FC236}">
                <a16:creationId xmlns:a16="http://schemas.microsoft.com/office/drawing/2014/main" id="{1466451F-EFAA-455B-84DC-2F755453A2B8}"/>
              </a:ext>
            </a:extLst>
          </p:cNvPr>
          <p:cNvSpPr>
            <a:spLocks noGrp="1"/>
          </p:cNvSpPr>
          <p:nvPr/>
        </p:nvSpPr>
        <p:spPr>
          <a:xfrm>
            <a:off x="6334125" y="3400425"/>
            <a:ext cx="4857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Controles no fluxo real, conhecimento da conta e acompanhamento de benefícios.</a:t>
            </a:r>
          </a:p>
          <a:p>
            <a:endParaRPr sz="202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02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Outras consultorias também oferecem governança. Superioridade não demonstrada.</a:t>
            </a:r>
          </a:p>
        </p:txBody>
      </p:sp>
      <p:sp>
        <p:nvSpPr>
          <p:cNvPr id="11" name="Conteúdo editável">
            <a:extLst>
              <a:ext uri="{FF2B5EF4-FFF2-40B4-BE49-F238E27FC236}">
                <a16:creationId xmlns:a16="http://schemas.microsoft.com/office/drawing/2014/main" id="{E2FD6A72-08B6-4413-B746-F894CC1417CD}"/>
              </a:ext>
            </a:extLst>
          </p:cNvPr>
          <p:cNvSpPr>
            <a:spLocks noGrp="1"/>
          </p:cNvSpPr>
          <p:nvPr/>
        </p:nvSpPr>
        <p:spPr>
          <a:xfrm>
            <a:off x="731520" y="5448300"/>
            <a:ext cx="1051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O case de dados não comprova a proposta IA Governada.</a:t>
            </a:r>
          </a:p>
        </p:txBody>
      </p:sp>
    </p:spTree>
    <p:extLst>
      <p:ext uri="{BB962C8B-B14F-4D97-AF65-F5344CB8AC3E}">
        <p14:creationId xmlns:p14="http://schemas.microsoft.com/office/powerpoint/2010/main" val="62739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29413E-E5A4-4D1B-A9DF-25A325923C7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Piloto com escopo e verificação definidos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61510-AA71-4ECD-A659-F4479929E960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06/18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48523AA7-5982-49D9-9BE5-7E7A9450F13F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a partir das prioridades do Relatório da Sprint 1, seção 10. O exemplo não descreve implantação ou resultado da QSOFT.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1BF9A58-83E5-499C-A976-74A983CFCA2B}"/>
              </a:ext>
            </a:extLst>
          </p:cNvPr>
          <p:cNvGraphicFramePr/>
          <p:nvPr/>
        </p:nvGraphicFramePr>
        <p:xfrm>
          <a:off x="731520" y="1619250"/>
          <a:ext cx="10515600" cy="3048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Etapa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Critério proposto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Caso de uso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Selecionar processo com dor e patrocinador confirmados.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Preparação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Acordar escopo, acessos, responsáveis, linha de base, custo, prazo e aceite.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Verificação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Comparar indicadores antes/depois e avaliar benefício, custo e capacidade.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92264978-746F-420B-8299-E7DF443B4EC6}"/>
              </a:ext>
            </a:extLst>
          </p:cNvPr>
          <p:cNvSpPr>
            <a:spLocks noGrp="1"/>
          </p:cNvSpPr>
          <p:nvPr/>
        </p:nvSpPr>
        <p:spPr>
          <a:xfrm>
            <a:off x="731520" y="5048250"/>
            <a:ext cx="105156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Exemplo ilustrativo: relatório gerencial interno com fontes autorizadas e revisão humana. Medir tempo, correções e registros de revisão.</a:t>
            </a:r>
          </a:p>
        </p:txBody>
      </p:sp>
    </p:spTree>
    <p:extLst>
      <p:ext uri="{BB962C8B-B14F-4D97-AF65-F5344CB8AC3E}">
        <p14:creationId xmlns:p14="http://schemas.microsoft.com/office/powerpoint/2010/main" val="79117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Model Canvas proposto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07/18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31DF31F5-CE8E-4E34-8926-04E0C6488917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a partir do Relatório da Sprint 1, seções 2.1, 4, 5 e 10, e do Diagnóstico de Competitividade, p. 3 e 6–8.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D910CBD-0276-49FD-B16C-E6E6BB21C04E}"/>
              </a:ext>
            </a:extLst>
          </p:cNvPr>
          <p:cNvGraphicFramePr/>
          <p:nvPr/>
        </p:nvGraphicFramePr>
        <p:xfrm>
          <a:off x="731520" y="1524000"/>
          <a:ext cx="10515600" cy="32385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9250">
                <a:tc rowSpan="2"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PARCERIAS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Plataformas e integradores.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Especialistas de segurança/privacidade.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Cliente piloto.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ATIVIDADES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Diagnóstico, controles, integração, piloto, capacitação e medição.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VALOR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Governança do uso de IA aplicada ao processo da conta de saúde.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Integração e benefícios verificáveis.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RELACIONAMENTO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Gestão consultiva, cocriação, aceite e revisão de indicadores.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CLIENTES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Organizações de saúde médias e grandes com dados complexos.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Prioridade às contas atuais.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Porte e elegibilidade a validar.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RECURSOS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Especialistas e agenda, conhecimento da conta, métodos e acessos autorizados.</a:t>
                      </a:r>
                    </a:p>
                  </a:txBody>
                  <a:tcPr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6668">
                      <a:solidFill>
                        <a:srgbClr val="506275"/>
                      </a:solidFill>
                      <a:prstDash val="solid"/>
                    </a:lnR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CANAIS</a:t>
                      </a:r>
                    </a:p>
                    <a:p>
                      <a:endParaRPr sz="1463">
                        <a:solidFill>
                          <a:srgbClr val="DAE8E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r>
                        <a:rPr sz="1463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Base atual, venda consultiva, site/eventos, indicações e parceiros.</a:t>
                      </a:r>
                    </a:p>
                  </a:txBody>
                  <a:tcPr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6668">
                      <a:solidFill>
                        <a:srgbClr val="506275"/>
                      </a:solidFill>
                      <a:prstDash val="solid"/>
                    </a:lnR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017CAC9-6CC5-49B1-9087-913E2CDD770D}"/>
              </a:ext>
            </a:extLst>
          </p:cNvPr>
          <p:cNvGraphicFramePr/>
          <p:nvPr/>
        </p:nvGraphicFramePr>
        <p:xfrm>
          <a:off x="731520" y="4762500"/>
          <a:ext cx="10515600" cy="105727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CUSTOS</a:t>
                      </a:r>
                    </a:p>
                    <a:p>
                      <a:r>
                        <a:rPr sz="150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Equipe, formação, pré-venda, ferramentas/licenças, implantação, suporte e documentação.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RECEITAS PROPOSTAS</a:t>
                      </a:r>
                    </a:p>
                    <a:p>
                      <a:r>
                        <a:rPr sz="150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Diagnóstico e projeto. Sustentação recorrente e capacitação conforme contratação. Preços e adesão a validar.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642726-E2AC-4844-8908-9218603A6F3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Processos como P principal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2001B-0DB5-4459-8753-0B1886886489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08/18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4E86C97E-A628-49B2-A3C8-F1F5E0326837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conforme aula Aplicações estratégicas — portfólio, p. 23–28, e capacidades descritas no Relatório da Sprint 1, seções 5–6.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A45B8844-74E5-4FFA-9BDE-6F8E7DB4B7A4}"/>
              </a:ext>
            </a:extLst>
          </p:cNvPr>
          <p:cNvSpPr>
            <a:spLocks noGrp="1"/>
          </p:cNvSpPr>
          <p:nvPr/>
        </p:nvSpPr>
        <p:spPr>
          <a:xfrm>
            <a:off x="731520" y="16668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P principal: Processos</a:t>
            </a:r>
          </a:p>
        </p:txBody>
      </p:sp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04E944DF-D969-44D2-A791-4459DF3BB0BE}"/>
              </a:ext>
            </a:extLst>
          </p:cNvPr>
          <p:cNvSpPr>
            <a:spLocks noGrp="1"/>
          </p:cNvSpPr>
          <p:nvPr/>
        </p:nvSpPr>
        <p:spPr>
          <a:xfrm>
            <a:off x="731520" y="2305050"/>
            <a:ext cx="4857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Diagnóstico, linha de base, aprovação, piloto, aceite e revisão de indicadores.</a:t>
            </a:r>
          </a:p>
          <a:p>
            <a:endParaRPr sz="217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Cada etapa precisa de responsável e critério de conclusão.</a:t>
            </a:r>
          </a:p>
        </p:txBody>
      </p:sp>
      <p:sp>
        <p:nvSpPr>
          <p:cNvPr id="8" name="Conteúdo editável">
            <a:extLst>
              <a:ext uri="{FF2B5EF4-FFF2-40B4-BE49-F238E27FC236}">
                <a16:creationId xmlns:a16="http://schemas.microsoft.com/office/drawing/2014/main" id="{F6165EB9-A6CC-49C2-AA63-0DF868E69758}"/>
              </a:ext>
            </a:extLst>
          </p:cNvPr>
          <p:cNvSpPr>
            <a:spLocks noGrp="1"/>
          </p:cNvSpPr>
          <p:nvPr/>
        </p:nvSpPr>
        <p:spPr>
          <a:xfrm>
            <a:off x="6334125" y="16668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Suporte à entrega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20A1A133-0C99-40F0-90E8-9F2E54CD52FD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4857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Pessoas: competências e agenda verificadas.</a:t>
            </a:r>
          </a:p>
          <a:p>
            <a:endParaRPr sz="2175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Evidências: inventário, controles documentados e relatório antes/depois.</a:t>
            </a:r>
          </a:p>
        </p:txBody>
      </p:sp>
      <p:sp>
        <p:nvSpPr>
          <p:cNvPr id="10" name="Conteúdo editável">
            <a:extLst>
              <a:ext uri="{FF2B5EF4-FFF2-40B4-BE49-F238E27FC236}">
                <a16:creationId xmlns:a16="http://schemas.microsoft.com/office/drawing/2014/main" id="{79875834-9E64-4C09-9F4D-DFA0BD84447A}"/>
              </a:ext>
            </a:extLst>
          </p:cNvPr>
          <p:cNvSpPr>
            <a:spLocks noGrp="1"/>
          </p:cNvSpPr>
          <p:nvPr/>
        </p:nvSpPr>
        <p:spPr>
          <a:xfrm>
            <a:off x="731520" y="5429250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Preço e comunicação devem respeitar o escopo e a capacidade apurados.</a:t>
            </a:r>
          </a:p>
        </p:txBody>
      </p:sp>
    </p:spTree>
    <p:extLst>
      <p:ext uri="{BB962C8B-B14F-4D97-AF65-F5344CB8AC3E}">
        <p14:creationId xmlns:p14="http://schemas.microsoft.com/office/powerpoint/2010/main" val="1891888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F67A7-A9E3-4D6E-ABBE-F2728038290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Decisões de portfólio condicionadas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0886D-A129-43DC-ADDD-0F432F37400E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09/18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E5BC061D-E6FE-4ED3-BC37-AD34BE98FE72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recomendações do grupo a partir do Relatório da Sprint 1, seções 2.1 e 9–11, e do Diagnóstico de Competitividade, p. 3 e 6–8.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4FB1539-986C-442A-8F8B-6BE4CADE1D4B}"/>
              </a:ext>
            </a:extLst>
          </p:cNvPr>
          <p:cNvGraphicFramePr/>
          <p:nvPr/>
        </p:nvGraphicFramePr>
        <p:xfrm>
          <a:off x="731520" y="1619250"/>
          <a:ext cx="10515600" cy="40481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Oferta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Decisão proposta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Condição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Alocação e times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Manter e proteger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Revisar margem, produtividade e capacidade.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Projetos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Manter com foco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Priorizar saúde e escopo mensurável.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Suporte e sustentação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Manter e documentar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Verificar qualidade, retenção e margem.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Capacitação corporativa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Construir seletivamente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Medir conversão e respeitar agenda.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IA Governada — proposta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Construir por piloto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Validar contratação, entrega e benefício.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15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D367E-1FC3-4571-83CA-7953BF4747D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Pedido e condições para avançar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5BF9A-4F18-436B-AD80-E134D419F189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PITCH EXECUTIVO  ·  10/18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035215E5-304F-46C4-937F-34E6CD0045E0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a partir do Relatório da Sprint 1, seção 10. Funções a designar; datas, horas e orçamento ainda não aprovados.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2459E065-6A30-4CF2-8079-4204AD0FE657}"/>
              </a:ext>
            </a:extLst>
          </p:cNvPr>
          <p:cNvSpPr>
            <a:spLocks noGrp="1"/>
          </p:cNvSpPr>
          <p:nvPr/>
        </p:nvSpPr>
        <p:spPr>
          <a:xfrm>
            <a:off x="731520" y="1666875"/>
            <a:ext cx="1051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850" b="1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Autorizar a qualificação de contas e o desenho de uma proposta de piloto.</a:t>
            </a:r>
          </a:p>
        </p:txBody>
      </p:sp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62649553-A332-4B7E-A8F0-59C5B6A914A2}"/>
              </a:ext>
            </a:extLst>
          </p:cNvPr>
          <p:cNvSpPr>
            <a:spLocks noGrp="1"/>
          </p:cNvSpPr>
          <p:nvPr/>
        </p:nvSpPr>
        <p:spPr>
          <a:xfrm>
            <a:off x="731520" y="314325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Para preparar a proposta</a:t>
            </a:r>
          </a:p>
        </p:txBody>
      </p:sp>
      <p:sp>
        <p:nvSpPr>
          <p:cNvPr id="8" name="Conteúdo editável">
            <a:extLst>
              <a:ext uri="{FF2B5EF4-FFF2-40B4-BE49-F238E27FC236}">
                <a16:creationId xmlns:a16="http://schemas.microsoft.com/office/drawing/2014/main" id="{CFB80EE9-1B3C-4B3B-93D5-36FD238D4259}"/>
              </a:ext>
            </a:extLst>
          </p:cNvPr>
          <p:cNvSpPr>
            <a:spLocks noGrp="1"/>
          </p:cNvSpPr>
          <p:nvPr/>
        </p:nvSpPr>
        <p:spPr>
          <a:xfrm>
            <a:off x="731520" y="3781425"/>
            <a:ext cx="48577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Designar comercial e técnico.</a:t>
            </a:r>
          </a:p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Confirmar dor e patrocinador.</a:t>
            </a:r>
          </a:p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Apurar acesso, esforço e custos.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764FD547-9E82-44D8-9D64-45E0C9C80587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Antes de executar</a:t>
            </a:r>
          </a:p>
        </p:txBody>
      </p:sp>
      <p:sp>
        <p:nvSpPr>
          <p:cNvPr id="10" name="Conteúdo editável">
            <a:extLst>
              <a:ext uri="{FF2B5EF4-FFF2-40B4-BE49-F238E27FC236}">
                <a16:creationId xmlns:a16="http://schemas.microsoft.com/office/drawing/2014/main" id="{33EF5B3D-3D31-4FA0-B76F-B52BAA6A9CE9}"/>
              </a:ext>
            </a:extLst>
          </p:cNvPr>
          <p:cNvSpPr>
            <a:spLocks noGrp="1"/>
          </p:cNvSpPr>
          <p:nvPr/>
        </p:nvSpPr>
        <p:spPr>
          <a:xfrm>
            <a:off x="6334125" y="3781425"/>
            <a:ext cx="48577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Aprovar escopo e contratação.</a:t>
            </a:r>
          </a:p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Acordar calendário e aceite.</a:t>
            </a:r>
          </a:p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Confirmar capacidade e métricas.</a:t>
            </a:r>
          </a:p>
        </p:txBody>
      </p:sp>
      <p:sp>
        <p:nvSpPr>
          <p:cNvPr id="11" name="Conteúdo editável">
            <a:extLst>
              <a:ext uri="{FF2B5EF4-FFF2-40B4-BE49-F238E27FC236}">
                <a16:creationId xmlns:a16="http://schemas.microsoft.com/office/drawing/2014/main" id="{C8B4661C-B3A7-467A-9B36-2802C50D6F99}"/>
              </a:ext>
            </a:extLst>
          </p:cNvPr>
          <p:cNvSpPr>
            <a:spLocks noGrp="1"/>
          </p:cNvSpPr>
          <p:nvPr/>
        </p:nvSpPr>
        <p:spPr>
          <a:xfrm>
            <a:off x="731520" y="5429250"/>
            <a:ext cx="10515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Após o piloto: expandir, ajustar ou interromper conforme as evidências.</a:t>
            </a:r>
          </a:p>
        </p:txBody>
      </p:sp>
    </p:spTree>
    <p:extLst>
      <p:ext uri="{BB962C8B-B14F-4D97-AF65-F5344CB8AC3E}">
        <p14:creationId xmlns:p14="http://schemas.microsoft.com/office/powerpoint/2010/main" val="2086501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Persona de trabalho e decisão B2B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11/18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9B8FA483-5CDB-41BF-9CD8-374AC19FB9A9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Diagnóstico de Competitividade, p. 6–7; case Unimed, Desafio e Transformação; aulas de portfólio, p. 8–10, e Ecossistema, p. 28–37.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983B181-568D-4B62-BB94-BE9A02E00217}"/>
              </a:ext>
            </a:extLst>
          </p:cNvPr>
          <p:cNvGraphicFramePr/>
          <p:nvPr/>
        </p:nvGraphicFramePr>
        <p:xfrm>
          <a:off x="731520" y="1619250"/>
          <a:ext cx="10515600" cy="381000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Bloco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Perfil proposto e ponto a validar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Identidade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Liderança de TI/dados como interlocutor técnico. Confirmar cargo e autonomia.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Rotina e contexto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Modernização, integração e capacidade. Rotina individual não observada.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Comportamento e mídia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Canais relatados: site, eventos e relacionamento. Uso pelo comprador a confirmar.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Tarefas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Melhorar operação e decisão. Organizar IA é tarefa proposta.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Dores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Retorno e governança; o case relata dificuldades de consolidação e escala.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Ganhos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Eficiência e continuidade; indicadores confiáveis no case. Metas da oferta a validar.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B253029D-78E7-49E5-8E9F-3947D5C4EDE1}"/>
              </a:ext>
            </a:extLst>
          </p:cNvPr>
          <p:cNvSpPr>
            <a:spLocks noGrp="1"/>
          </p:cNvSpPr>
          <p:nvPr/>
        </p:nvSpPr>
        <p:spPr>
          <a:xfrm>
            <a:off x="731520" y="5543550"/>
            <a:ext cx="10515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Síntese do grupo: viabilizar IA com controle e evidência de resultado. Persona documental a validar.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Canvas da Proposta de Valor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12/18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91354B0D-D073-4744-A490-44893FC3CD51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com base no Relatório da Sprint 1, seções 4 e 10, e no Diagnóstico de Competitividade, p. 6–7. Estrutura: aula de portfólio, p. 12–14.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D3A39C5-F886-4D6D-AF1F-67AB9A90F164}"/>
              </a:ext>
            </a:extLst>
          </p:cNvPr>
          <p:cNvGraphicFramePr/>
          <p:nvPr/>
        </p:nvGraphicFramePr>
        <p:xfrm>
          <a:off x="731520" y="1619250"/>
          <a:ext cx="10515600" cy="409575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Perfil do cliente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Mapa de valor proposto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Tarefas</a:t>
                      </a:r>
                    </a:p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Mapear usos, integrar dados, definir responsáveis e demonstrar valor.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Serviços</a:t>
                      </a:r>
                    </a:p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Diagnóstico, controles, integração, piloto, capacitação e acompanhamento.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Dores</a:t>
                      </a:r>
                    </a:p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Falta de visibilidade, controles dispersos, integração e retorno incerto.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Aliviadores</a:t>
                      </a:r>
                    </a:p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Inventário, responsabilidades, aprovação, revisão humana e comparação antes/depois.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Ganhos</a:t>
                      </a:r>
                    </a:p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Rastreabilidade, adoção assistida e continuidade.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Criadores de ganhos</a:t>
                      </a:r>
                    </a:p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Painéis, relatórios por decisor, documentação e expansão por área.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Cinco palavras e expressão da proposta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13/18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19120572-6551-4229-BB75-A65D2E46F65A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formulação do grupo conforme aula Aplicações estratégicas — portfólio, p. 18–21. Diferença pretendida, sem exclusividade comprovada.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D32ED6-73B6-4046-9DD0-FEF4FBF2A076}"/>
              </a:ext>
            </a:extLst>
          </p:cNvPr>
          <p:cNvGraphicFramePr/>
          <p:nvPr/>
        </p:nvGraphicFramePr>
        <p:xfrm>
          <a:off x="731520" y="1619250"/>
          <a:ext cx="10515600" cy="1143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Para quem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 quê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Benefício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Diferença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Personalidade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Saúde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Consultoria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Controle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Contexto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Confiabilidade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A588EA0F-4B43-44E9-8E8F-C59E18035DB8}"/>
              </a:ext>
            </a:extLst>
          </p:cNvPr>
          <p:cNvSpPr>
            <a:spLocks noGrp="1"/>
          </p:cNvSpPr>
          <p:nvPr/>
        </p:nvSpPr>
        <p:spPr>
          <a:xfrm>
            <a:off x="731520" y="3143250"/>
            <a:ext cx="105156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Contexto: adaptar controles ao processo real da conta de saúde. A prova depende dos entregáveis e da avaliação do piloto.</a:t>
            </a:r>
          </a:p>
        </p:txBody>
      </p:sp>
      <p:sp>
        <p:nvSpPr>
          <p:cNvPr id="8" name="Conteúdo editável">
            <a:extLst>
              <a:ext uri="{FF2B5EF4-FFF2-40B4-BE49-F238E27FC236}">
                <a16:creationId xmlns:a16="http://schemas.microsoft.com/office/drawing/2014/main" id="{4A46AF0D-B67E-415B-A8E8-429F1EC53F83}"/>
              </a:ext>
            </a:extLst>
          </p:cNvPr>
          <p:cNvSpPr>
            <a:spLocks noGrp="1"/>
          </p:cNvSpPr>
          <p:nvPr/>
        </p:nvSpPr>
        <p:spPr>
          <a:xfrm>
            <a:off x="731520" y="442912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Mantra interno proposto</a:t>
            </a:r>
          </a:p>
        </p:txBody>
      </p:sp>
      <p:sp>
        <p:nvSpPr>
          <p:cNvPr id="9" name="Conteúdo editável">
            <a:extLst>
              <a:ext uri="{FF2B5EF4-FFF2-40B4-BE49-F238E27FC236}">
                <a16:creationId xmlns:a16="http://schemas.microsoft.com/office/drawing/2014/main" id="{33871869-7444-4A22-A2F5-0409E421FB69}"/>
              </a:ext>
            </a:extLst>
          </p:cNvPr>
          <p:cNvSpPr>
            <a:spLocks noGrp="1"/>
          </p:cNvSpPr>
          <p:nvPr/>
        </p:nvSpPr>
        <p:spPr>
          <a:xfrm>
            <a:off x="731520" y="506730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IA governada, valor demonstrável</a:t>
            </a:r>
          </a:p>
        </p:txBody>
      </p:sp>
      <p:sp>
        <p:nvSpPr>
          <p:cNvPr id="10" name="Conteúdo editável">
            <a:extLst>
              <a:ext uri="{FF2B5EF4-FFF2-40B4-BE49-F238E27FC236}">
                <a16:creationId xmlns:a16="http://schemas.microsoft.com/office/drawing/2014/main" id="{8F0B83FE-19EB-4D91-8F6E-329A9FE6E4CB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Slogan proposto</a:t>
            </a:r>
          </a:p>
        </p:txBody>
      </p:sp>
      <p:sp>
        <p:nvSpPr>
          <p:cNvPr id="11" name="Conteúdo editável">
            <a:extLst>
              <a:ext uri="{FF2B5EF4-FFF2-40B4-BE49-F238E27FC236}">
                <a16:creationId xmlns:a16="http://schemas.microsoft.com/office/drawing/2014/main" id="{1173C3A7-EFDD-4A9B-835A-35542A5F4AAA}"/>
              </a:ext>
            </a:extLst>
          </p:cNvPr>
          <p:cNvSpPr>
            <a:spLocks noGrp="1"/>
          </p:cNvSpPr>
          <p:nvPr/>
        </p:nvSpPr>
        <p:spPr>
          <a:xfrm>
            <a:off x="6334125" y="5067300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Inteligência com controle.</a:t>
            </a:r>
          </a:p>
          <a:p>
            <a:pPr>
              <a:defRPr sz="21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Valor com evidência.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7Ps da proposta de serviço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14/18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7476C38E-B42B-4AD8-86D0-861BD144070D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a partir do Relatório da Sprint 1, seções 5–6 e 10. Modelo: aula Aplicações estratégicas — portfólio, p. 24–28.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7488A7B-33E7-4655-9E2E-CDC117D355CB}"/>
              </a:ext>
            </a:extLst>
          </p:cNvPr>
          <p:cNvGraphicFramePr/>
          <p:nvPr/>
        </p:nvGraphicFramePr>
        <p:xfrm>
          <a:off x="731520" y="1619250"/>
          <a:ext cx="10515600" cy="4095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Decisão proposta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Produto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Serviço modular, com entregáveis e exclusões por etapa.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Preço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Orçar por escopo, esforço e custos; recorrência quando contratada.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Praça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Venda consultiva à base atual de saúde e expansão por áreas.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Promoção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Conteúdo técnico, workshops e referências autorizadas.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Pessoas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Competências e agenda verificadas antes da contratação.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Processos — principal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Linha de base, aprovação, piloto, aceite e revisão de indicadores.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Evidência física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Inventário, documentação e relatório antes/depois.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Portfólio com análises ainda incompletas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15/18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4E0D0421-5200-4DCB-B0D4-7F2223E4559D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aula Aplicações estratégicas — portfólio, p. 33–51 e 56; Diagnóstico de Competitividade, p. 3, 5 e 8. Quatro modalidades existentes sem dados suficientes.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EB86575-81F1-41F5-9574-713C547A9888}"/>
              </a:ext>
            </a:extLst>
          </p:cNvPr>
          <p:cNvGraphicFramePr/>
          <p:nvPr/>
        </p:nvGraphicFramePr>
        <p:xfrm>
          <a:off x="731520" y="1619250"/>
          <a:ext cx="10515600" cy="33813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Ferramenta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Dados necessários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Situação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ABC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Receita e margem em reais, período comum, percentuais e faixas.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Classes não atribuídas.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Ciclo de vida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Histórico de vendas/lucro e sinais de adoção por oferta.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Fases indeterminadas.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BCG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Crescimento e participação relativa no mercado de cada oferta.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Quadrantes indeterminados.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GE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Fatores, pesos e notas justificados de atratividade e competitividade.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Índices indeterminados.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23E1A675-2B5D-40B6-8B18-B9457D652336}"/>
              </a:ext>
            </a:extLst>
          </p:cNvPr>
          <p:cNvSpPr>
            <a:spLocks noGrp="1"/>
          </p:cNvSpPr>
          <p:nvPr/>
        </p:nvSpPr>
        <p:spPr>
          <a:xfrm>
            <a:off x="731520" y="5238750"/>
            <a:ext cx="10515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Aplicar a alocação e times, projetos, sustentação e capacitação. IA Governada é adicional. A CPM compara empresas e não substitui BCG ou GE por oferta.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Ansoff e direção do crescimento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16/18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6FA6F207-A983-4A2D-AE93-B730188B7526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elaboração do grupo a partir do Relatório da Sprint 1, seções 9–11, e do Diagnóstico de Competitividade, p. 3 e 6–7. Modelo: aula de portfólio, p. 52–56.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E975FE6-7B19-433F-9E51-3D224FC3F1D1}"/>
              </a:ext>
            </a:extLst>
          </p:cNvPr>
          <p:cNvGraphicFramePr/>
          <p:nvPr/>
        </p:nvGraphicFramePr>
        <p:xfrm>
          <a:off x="731520" y="1619250"/>
          <a:ext cx="10515600" cy="3619500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Caminho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Aplicação proposta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Penetração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Quatro ofertas existentes em contas e áreas do mercado atual de saúde.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Desenvolvimento de produto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Proposta IA Governada para contas atuais de saúde.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Desenvolvimento de mercado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Ofertas existentes em seguros, após validação setorial.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Diversificação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Nova oferta em novo mercado, como IA Governada em seguros. Não priorizar agora.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F6C39ACC-6CC1-401D-8754-CCB8FA0EEDAF}"/>
              </a:ext>
            </a:extLst>
          </p:cNvPr>
          <p:cNvSpPr>
            <a:spLocks noGrp="1"/>
          </p:cNvSpPr>
          <p:nvPr/>
        </p:nvSpPr>
        <p:spPr>
          <a:xfrm>
            <a:off x="731520" y="5476875"/>
            <a:ext cx="1051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Faltam evidências econômicas para recomendar colher ou abandonar uma modalidade específica.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Pendências de análise e execução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17/18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DB848D64-0AC4-46EF-BCCA-B8F5217D8F45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lacunas do Relatório da Sprint 1, seções 2.1, 4, 6 e 10, e do Diagnóstico de Competitividade, p. 5–8. Requisito de portfólio: aula, p. 56.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F2AABED-301F-4133-9F5E-0962A53004BD}"/>
              </a:ext>
            </a:extLst>
          </p:cNvPr>
          <p:cNvGraphicFramePr/>
          <p:nvPr/>
        </p:nvGraphicFramePr>
        <p:xfrm>
          <a:off x="731520" y="1619250"/>
          <a:ext cx="10515600" cy="36195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Frente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Informação ou ação pendente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>
                      <a:solidFill>
                        <a:srgbClr val="506275"/>
                      </a:solidFill>
                      <a:prstDash val="soli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24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Público e persona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Definir porte e contas elegíveis; pesquisar os papéis de compra e confrontar evidências com CRM.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Valor e diferenciação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Confirmar dor, disposição de pagar, alternativas e critérios de sucesso.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Portfólio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Obter dados financeiros, séries de vendas/lucro, mercados comparáveis e evidências para pesos e notas GE.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Execução da proposta</a:t>
                      </a:r>
                    </a:p>
                  </a:txBody>
                  <a:tcPr>
                    <a:lnL w="6668">
                      <a:solidFill>
                        <a:srgbClr val="506275"/>
                      </a:solidFill>
                      <a:prstDash val="soli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AE8EF"/>
                          </a:solidFill>
                          <a:latin typeface="Calibri"/>
                          <a:ea typeface="Calibri"/>
                          <a:cs typeface="Calibri"/>
                        </a:rPr>
                        <a:t>Aprovar piloto e contratação: responsáveis, acessos, esforço, custos, preço, prazo e aceite.</a:t>
                      </a:r>
                    </a:p>
                  </a:txBody>
                  <a:tcPr>
                    <a:lnL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506275"/>
                      </a:solidFill>
                      <a:prstDash val="solid"/>
                    </a:lnR>
                    <a:lnT w="6668" cap="flat" cmpd="sng" algn="ctr">
                      <a:solidFill>
                        <a:srgbClr val="506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506275"/>
                      </a:solidFill>
                      <a:prstDash val="solid"/>
                    </a:lnB>
                    <a:solidFill>
                      <a:srgbClr val="13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nteúdo editável">
            <a:extLst>
              <a:ext uri="{FF2B5EF4-FFF2-40B4-BE49-F238E27FC236}">
                <a16:creationId xmlns:a16="http://schemas.microsoft.com/office/drawing/2014/main" id="{DE2B5B7D-2821-491B-8AC9-D97B3EBE173D}"/>
              </a:ext>
            </a:extLst>
          </p:cNvPr>
          <p:cNvSpPr>
            <a:spLocks noGrp="1"/>
          </p:cNvSpPr>
          <p:nvPr/>
        </p:nvSpPr>
        <p:spPr>
          <a:xfrm>
            <a:off x="731520" y="5476875"/>
            <a:ext cx="10515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Atividade: fundamentar persona e concluir as matrizes. Execução: aprovar e avaliar o piloto.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9C792-5E2B-46A3-A143-978A92E965F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857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Referências documentais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1F6EB-2415-4545-A527-39679877C3E4}"/>
              </a:ext>
            </a:extLst>
          </p:cNvPr>
          <p:cNvSpPr>
            <a:spLocks noGrp="1"/>
          </p:cNvSpPr>
          <p:nvPr/>
        </p:nvSpPr>
        <p:spPr>
          <a:xfrm>
            <a:off x="731520" y="6438900"/>
            <a:ext cx="1051560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1000">
                <a:solidFill>
                  <a:srgbClr val="4CC4C2"/>
                </a:solidFill>
                <a:latin typeface="Calibri"/>
                <a:ea typeface="Calibri"/>
                <a:cs typeface="Calibri"/>
              </a:defRPr>
            </a:pPr>
            <a:r>
              <a:rPr sz="1000">
                <a:solidFill>
                  <a:srgbClr val="4CC4C2"/>
                </a:solidFill>
                <a:latin typeface="Calibri"/>
                <a:ea typeface="Calibri"/>
                <a:cs typeface="Calibri"/>
              </a:rPr>
              <a:t>ESPM  ·  QSOFT  ·  ANEXO ACADÊMICO  ·  18/18</a:t>
            </a:r>
          </a:p>
        </p:txBody>
      </p:sp>
      <p:sp>
        <p:nvSpPr>
          <p:cNvPr id="5" name="Conteúdo editável">
            <a:extLst>
              <a:ext uri="{FF2B5EF4-FFF2-40B4-BE49-F238E27FC236}">
                <a16:creationId xmlns:a16="http://schemas.microsoft.com/office/drawing/2014/main" id="{CF31DCEA-D78B-4B2B-882F-BD6E7BDAE4B8}"/>
              </a:ext>
            </a:extLst>
          </p:cNvPr>
          <p:cNvSpPr>
            <a:spLocks noGrp="1"/>
          </p:cNvSpPr>
          <p:nvPr/>
        </p:nvSpPr>
        <p:spPr>
          <a:xfrm>
            <a:off x="731520" y="5915025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125" b="0">
                <a:solidFill>
                  <a:srgbClr val="AFC1CD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AFC1CD"/>
                </a:solidFill>
                <a:latin typeface="Calibri"/>
                <a:ea typeface="Calibri"/>
                <a:cs typeface="Calibri"/>
              </a:rPr>
              <a:t>Fonte: fontes identificadas nos rodapés e detalhadas nas notas do apresentador e nas referências finais do plano.</a:t>
            </a:r>
          </a:p>
        </p:txBody>
      </p:sp>
      <p:sp>
        <p:nvSpPr>
          <p:cNvPr id="6" name="Conteúdo editável">
            <a:extLst>
              <a:ext uri="{FF2B5EF4-FFF2-40B4-BE49-F238E27FC236}">
                <a16:creationId xmlns:a16="http://schemas.microsoft.com/office/drawing/2014/main" id="{C169D6B0-56E0-49C7-8ECD-439BA34099E2}"/>
              </a:ext>
            </a:extLst>
          </p:cNvPr>
          <p:cNvSpPr>
            <a:spLocks noGrp="1"/>
          </p:cNvSpPr>
          <p:nvPr/>
        </p:nvSpPr>
        <p:spPr>
          <a:xfrm>
            <a:off x="731520" y="1571625"/>
            <a:ext cx="10515600" cy="423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Relatório da Sprint 1 (DOCX)</a:t>
            </a: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Relatório Diagnóstico Estratégico QSOFT Corrigido. Coleta externa declarada: 30/09/2026. Seções 2.1–2.2, 4–6 e 9–11.</a:t>
            </a:r>
          </a:p>
          <a:p>
            <a:endParaRPr sz="1800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Diagnóstico de Competitividade (PDF)</a:t>
            </a: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Diagnóstico Estratégico de Competitividade da QSOFT, set. 2026, 13 p. Páginas 3, 5–8.</a:t>
            </a:r>
          </a:p>
          <a:p>
            <a:endParaRPr sz="1800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Aulas de Silvana Scheffel Gomes</a:t>
            </a: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Aplicações estratégicas — portfólio, 13/10/2026, p. 3–56.</a:t>
            </a: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Ecossistema Fornecedores Canais Cliente, 08/09/2026, p. 28–37.</a:t>
            </a:r>
          </a:p>
          <a:p>
            <a:endParaRPr sz="1800" b="0">
              <a:solidFill>
                <a:srgbClr val="DAE8EF"/>
              </a:solidFill>
              <a:latin typeface="Calibri"/>
              <a:ea typeface="Calibri"/>
              <a:cs typeface="Calibri"/>
            </a:endParaRP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QSOFT — Case Unimed</a:t>
            </a:r>
          </a:p>
          <a:p>
            <a:pPr>
              <a:defRPr sz="1800" b="0">
                <a:solidFill>
                  <a:srgbClr val="DAE8E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AE8EF"/>
                </a:solidFill>
                <a:latin typeface="Calibri"/>
                <a:ea typeface="Calibri"/>
                <a:cs typeface="Calibri"/>
              </a:rPr>
              <a:t>qsoft.com.br/case-unimed/. Consulta registrada: 22/10/2026. Declaração institucional, sem auditoria independente.</a:t>
            </a:r>
          </a:p>
        </p:txBody>
      </p:sp>
    </p:spTree>
    <p:extLst>
      <p:ext uri="{BB962C8B-B14F-4D97-AF65-F5344CB8AC3E}">
        <p14:creationId xmlns:p14="http://schemas.microsoft.com/office/powerpoint/2010/main" val="46136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5459</Words>
  <Application>Microsoft Office PowerPoint</Application>
  <DocSecurity>0</DocSecurity>
  <PresentationFormat>Widescreen</PresentationFormat>
  <Paragraphs>465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Julia Machado</cp:lastModifiedBy>
  <cp:revision>1</cp:revision>
  <dcterms:created xsi:type="dcterms:W3CDTF">2026-10-23T11:13:32Z</dcterms:created>
  <dcterms:modified xsi:type="dcterms:W3CDTF">2026-10-23T11:54:09Z</dcterms:modified>
</cp:coreProperties>
</file>